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6" r:id="rId8"/>
    <p:sldId id="261" r:id="rId9"/>
    <p:sldId id="262"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22F4D398-E9AE-4C95-B6D3-CE30F4A1155B}" type="datetimeFigureOut">
              <a:rPr lang="fr-FR" smtClean="0"/>
              <a:t>18/01/2026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850657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2F4D398-E9AE-4C95-B6D3-CE30F4A1155B}" type="datetimeFigureOut">
              <a:rPr lang="fr-FR" smtClean="0"/>
              <a:t>18/01/2026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4165421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22F4D398-E9AE-4C95-B6D3-CE30F4A1155B}" type="datetimeFigureOut">
              <a:rPr lang="fr-FR" smtClean="0"/>
              <a:t>18/01/2026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324956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22F4D398-E9AE-4C95-B6D3-CE30F4A1155B}" type="datetimeFigureOut">
              <a:rPr lang="fr-FR" smtClean="0"/>
              <a:t>18/01/2026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3938803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22F4D398-E9AE-4C95-B6D3-CE30F4A1155B}" type="datetimeFigureOut">
              <a:rPr lang="fr-FR" smtClean="0"/>
              <a:t>18/01/2026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876994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22F4D398-E9AE-4C95-B6D3-CE30F4A1155B}" type="datetimeFigureOut">
              <a:rPr lang="fr-FR" smtClean="0"/>
              <a:t>18/01/2026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3974694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2F4D398-E9AE-4C95-B6D3-CE30F4A1155B}" type="datetimeFigureOut">
              <a:rPr lang="fr-FR" smtClean="0"/>
              <a:t>18/01/2026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1258800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22F4D398-E9AE-4C95-B6D3-CE30F4A1155B}" type="datetimeFigureOut">
              <a:rPr lang="fr-FR" smtClean="0"/>
              <a:t>18/01/2026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3113848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22F4D398-E9AE-4C95-B6D3-CE30F4A1155B}" type="datetimeFigureOut">
              <a:rPr lang="fr-FR" smtClean="0"/>
              <a:t>18/01/2026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975878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2F4D398-E9AE-4C95-B6D3-CE30F4A1155B}" type="datetimeFigureOut">
              <a:rPr lang="fr-FR" smtClean="0"/>
              <a:t>18/01/2026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2296256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2F4D398-E9AE-4C95-B6D3-CE30F4A1155B}" type="datetimeFigureOut">
              <a:rPr lang="fr-FR" smtClean="0"/>
              <a:t>18/01/2026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4F8C533-5688-4F5F-8F0B-6AD1B3CCB7A8}" type="slidenum">
              <a:rPr lang="fr-FR" smtClean="0"/>
              <a:t>‹N°›</a:t>
            </a:fld>
            <a:endParaRPr lang="fr-FR"/>
          </a:p>
        </p:txBody>
      </p:sp>
    </p:spTree>
    <p:extLst>
      <p:ext uri="{BB962C8B-B14F-4D97-AF65-F5344CB8AC3E}">
        <p14:creationId xmlns:p14="http://schemas.microsoft.com/office/powerpoint/2010/main" val="3440633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F4D398-E9AE-4C95-B6D3-CE30F4A1155B}" type="datetimeFigureOut">
              <a:rPr lang="fr-FR" smtClean="0"/>
              <a:t>18/01/2026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F8C533-5688-4F5F-8F0B-6AD1B3CCB7A8}" type="slidenum">
              <a:rPr lang="fr-FR" smtClean="0"/>
              <a:t>‹N°›</a:t>
            </a:fld>
            <a:endParaRPr lang="fr-FR"/>
          </a:p>
        </p:txBody>
      </p:sp>
    </p:spTree>
    <p:extLst>
      <p:ext uri="{BB962C8B-B14F-4D97-AF65-F5344CB8AC3E}">
        <p14:creationId xmlns:p14="http://schemas.microsoft.com/office/powerpoint/2010/main" val="4010181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à coins arrondis 6"/>
          <p:cNvSpPr/>
          <p:nvPr/>
        </p:nvSpPr>
        <p:spPr>
          <a:xfrm>
            <a:off x="3157924" y="1535502"/>
            <a:ext cx="5477774" cy="106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p:cNvSpPr txBox="1"/>
          <p:nvPr/>
        </p:nvSpPr>
        <p:spPr>
          <a:xfrm>
            <a:off x="3218010" y="1608675"/>
            <a:ext cx="5417688" cy="923330"/>
          </a:xfrm>
          <a:prstGeom prst="rect">
            <a:avLst/>
          </a:prstGeom>
          <a:noFill/>
        </p:spPr>
        <p:txBody>
          <a:bodyPr wrap="square" rtlCol="0">
            <a:spAutoFit/>
          </a:bodyPr>
          <a:lstStyle/>
          <a:p>
            <a:pPr algn="ctr"/>
            <a:r>
              <a:rPr lang="fr-FR" b="1" dirty="0" smtClean="0"/>
              <a:t>Système d’arrosage automatique intelligent:</a:t>
            </a:r>
          </a:p>
          <a:p>
            <a:pPr algn="ctr"/>
            <a:r>
              <a:rPr lang="fr-FR" dirty="0" smtClean="0"/>
              <a:t>Détection de l’humidité du sol et contrôle automatique de la pompe</a:t>
            </a:r>
            <a:endParaRPr lang="fr-FR" b="1" dirty="0"/>
          </a:p>
        </p:txBody>
      </p:sp>
      <p:pic>
        <p:nvPicPr>
          <p:cNvPr id="1026" name="Picture 2" descr="Logo de l'ULC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50279" cy="11731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eadband EILCO - L'École d'Ingénieur du Littoral Côte d'Opa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8068" y="1"/>
            <a:ext cx="2633931" cy="117319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08463" y="4433977"/>
            <a:ext cx="4068646" cy="1107996"/>
          </a:xfrm>
          <a:prstGeom prst="rect">
            <a:avLst/>
          </a:prstGeom>
        </p:spPr>
        <p:txBody>
          <a:bodyPr wrap="square">
            <a:spAutoFit/>
          </a:bodyPr>
          <a:lstStyle/>
          <a:p>
            <a:r>
              <a:rPr lang="fr-FR" sz="2200" b="1" u="sng" dirty="0" smtClean="0"/>
              <a:t>Réalisé par : </a:t>
            </a:r>
          </a:p>
          <a:p>
            <a:r>
              <a:rPr lang="fr-FR" sz="2200" dirty="0"/>
              <a:t>-</a:t>
            </a:r>
            <a:r>
              <a:rPr lang="fr-FR" sz="2200" dirty="0" smtClean="0"/>
              <a:t>EL KHAYATI Mohamed Issam</a:t>
            </a:r>
          </a:p>
          <a:p>
            <a:r>
              <a:rPr lang="fr-FR" sz="2200" dirty="0" smtClean="0"/>
              <a:t>-ELASRY </a:t>
            </a:r>
            <a:r>
              <a:rPr lang="fr-FR" sz="2200" dirty="0" err="1" smtClean="0"/>
              <a:t>Haitam</a:t>
            </a:r>
            <a:endParaRPr lang="fr-FR" sz="2200" dirty="0"/>
          </a:p>
        </p:txBody>
      </p:sp>
      <p:sp>
        <p:nvSpPr>
          <p:cNvPr id="6" name="Rectangle 5"/>
          <p:cNvSpPr/>
          <p:nvPr/>
        </p:nvSpPr>
        <p:spPr>
          <a:xfrm>
            <a:off x="8497020" y="4433977"/>
            <a:ext cx="2896680" cy="1107996"/>
          </a:xfrm>
          <a:prstGeom prst="rect">
            <a:avLst/>
          </a:prstGeom>
        </p:spPr>
        <p:txBody>
          <a:bodyPr wrap="square">
            <a:spAutoFit/>
          </a:bodyPr>
          <a:lstStyle/>
          <a:p>
            <a:r>
              <a:rPr lang="fr-FR" sz="2200" b="1" u="sng" dirty="0" smtClean="0"/>
              <a:t>Encadré par :</a:t>
            </a:r>
          </a:p>
          <a:p>
            <a:r>
              <a:rPr lang="fr-FR" sz="2200" dirty="0" smtClean="0"/>
              <a:t>-BADEUILLE Paul</a:t>
            </a:r>
          </a:p>
          <a:p>
            <a:r>
              <a:rPr lang="fr-FR" sz="2200" dirty="0" smtClean="0"/>
              <a:t>-HOCHART </a:t>
            </a:r>
            <a:r>
              <a:rPr lang="fr-FR" sz="2200" dirty="0"/>
              <a:t>Jimmy</a:t>
            </a:r>
          </a:p>
        </p:txBody>
      </p:sp>
      <p:sp>
        <p:nvSpPr>
          <p:cNvPr id="2" name="ZoneTexte 1"/>
          <p:cNvSpPr txBox="1"/>
          <p:nvPr/>
        </p:nvSpPr>
        <p:spPr>
          <a:xfrm>
            <a:off x="3545963" y="5865961"/>
            <a:ext cx="4761781" cy="430887"/>
          </a:xfrm>
          <a:prstGeom prst="rect">
            <a:avLst/>
          </a:prstGeom>
          <a:noFill/>
        </p:spPr>
        <p:txBody>
          <a:bodyPr wrap="square" rtlCol="0">
            <a:spAutoFit/>
          </a:bodyPr>
          <a:lstStyle/>
          <a:p>
            <a:pPr algn="ctr"/>
            <a:r>
              <a:rPr lang="fr-FR" sz="2200" b="1" u="sng" dirty="0" smtClean="0"/>
              <a:t>Année universitaire : 2025/2026</a:t>
            </a:r>
            <a:endParaRPr lang="fr-FR" sz="2200" b="1" u="sng" dirty="0"/>
          </a:p>
        </p:txBody>
      </p:sp>
    </p:spTree>
    <p:extLst>
      <p:ext uri="{BB962C8B-B14F-4D97-AF65-F5344CB8AC3E}">
        <p14:creationId xmlns:p14="http://schemas.microsoft.com/office/powerpoint/2010/main" val="36470936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Contexte &amp; Problématique</a:t>
            </a:r>
            <a:endParaRPr lang="fr-FR" b="1" dirty="0"/>
          </a:p>
        </p:txBody>
      </p:sp>
      <p:sp>
        <p:nvSpPr>
          <p:cNvPr id="3" name="Espace réservé du contenu 2"/>
          <p:cNvSpPr>
            <a:spLocks noGrp="1"/>
          </p:cNvSpPr>
          <p:nvPr>
            <p:ph idx="1"/>
          </p:nvPr>
        </p:nvSpPr>
        <p:spPr/>
        <p:txBody>
          <a:bodyPr/>
          <a:lstStyle/>
          <a:p>
            <a:r>
              <a:rPr lang="fr-FR" dirty="0"/>
              <a:t>L’arrosage automatique vise avant tout à faciliter la gestion de l’arrosage en réduisant les interventions manuelles. Il permet d’assurer un arrosage régulier et adapté sans nécessiter une surveillance constante du sol ou des plantes. Grâce à l’automatisation, l’utilisateur gagne du temps, optimise l’utilisation de l’eau et peut s’absenter en toute </a:t>
            </a:r>
            <a:r>
              <a:rPr lang="fr-FR" dirty="0" smtClean="0"/>
              <a:t>tranquillité. </a:t>
            </a:r>
            <a:r>
              <a:rPr lang="fr-FR" dirty="0"/>
              <a:t>Ce type de système contribue ainsi à une gestion plus pratique, moderne et efficace des espaces verts ou des cultures.</a:t>
            </a:r>
            <a:endParaRPr lang="fr-FR" dirty="0"/>
          </a:p>
        </p:txBody>
      </p:sp>
    </p:spTree>
    <p:extLst>
      <p:ext uri="{BB962C8B-B14F-4D97-AF65-F5344CB8AC3E}">
        <p14:creationId xmlns:p14="http://schemas.microsoft.com/office/powerpoint/2010/main" val="8462789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t>Objectifs du projet</a:t>
            </a:r>
            <a:endParaRPr lang="fr-FR" dirty="0"/>
          </a:p>
        </p:txBody>
      </p:sp>
      <p:sp>
        <p:nvSpPr>
          <p:cNvPr id="3" name="Espace réservé du contenu 2"/>
          <p:cNvSpPr>
            <a:spLocks noGrp="1"/>
          </p:cNvSpPr>
          <p:nvPr>
            <p:ph idx="1"/>
          </p:nvPr>
        </p:nvSpPr>
        <p:spPr/>
        <p:txBody>
          <a:bodyPr/>
          <a:lstStyle/>
          <a:p>
            <a:r>
              <a:rPr lang="fr-FR" dirty="0" smtClean="0"/>
              <a:t>L’objectif principal de ce projet est de mesurer l’humidité du sol en temps réel afin d’adapter l’arrosage aux besoins réels des plantes. Le système permet d’activer automatiquement la pompe lorsque le sol devient sec, sans intervention humaine. Il offre également la possibilité de surveiller le fonctionnement du système à distance via une interface web. Enfin, le projet repose sur une architecture moderne en trois couches garantissant une bonne organisation et une évolutivité du système.</a:t>
            </a:r>
            <a:endParaRPr lang="fr-FR" dirty="0"/>
          </a:p>
        </p:txBody>
      </p:sp>
    </p:spTree>
    <p:extLst>
      <p:ext uri="{BB962C8B-B14F-4D97-AF65-F5344CB8AC3E}">
        <p14:creationId xmlns:p14="http://schemas.microsoft.com/office/powerpoint/2010/main" val="10484397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Architecture générale</a:t>
            </a:r>
            <a:endParaRPr lang="fr-FR" b="1" dirty="0"/>
          </a:p>
        </p:txBody>
      </p:sp>
      <p:sp>
        <p:nvSpPr>
          <p:cNvPr id="3" name="Espace réservé du contenu 2"/>
          <p:cNvSpPr>
            <a:spLocks noGrp="1"/>
          </p:cNvSpPr>
          <p:nvPr>
            <p:ph idx="1"/>
          </p:nvPr>
        </p:nvSpPr>
        <p:spPr/>
        <p:txBody>
          <a:bodyPr/>
          <a:lstStyle/>
          <a:p>
            <a:r>
              <a:rPr lang="fr-FR" dirty="0" smtClean="0"/>
              <a:t>L’architecture générale du système est basée sur une structure en trois couches. La couche </a:t>
            </a:r>
            <a:r>
              <a:rPr lang="fr-FR" b="1" dirty="0" smtClean="0"/>
              <a:t>Hardware</a:t>
            </a:r>
            <a:r>
              <a:rPr lang="fr-FR" dirty="0" smtClean="0"/>
              <a:t> regroupe les composants physiques tels que </a:t>
            </a:r>
            <a:r>
              <a:rPr lang="fr-FR" dirty="0" smtClean="0"/>
              <a:t>l’ESP32, </a:t>
            </a:r>
            <a:r>
              <a:rPr lang="fr-FR" dirty="0" smtClean="0"/>
              <a:t>le capteur d’humidité et la pompe à eau, chargés de la mesure et de l’exécution des actions. La couche </a:t>
            </a:r>
            <a:r>
              <a:rPr lang="fr-FR" b="1" dirty="0" smtClean="0"/>
              <a:t>Cloud</a:t>
            </a:r>
            <a:r>
              <a:rPr lang="fr-FR" dirty="0" smtClean="0"/>
              <a:t>, assurée par </a:t>
            </a:r>
            <a:r>
              <a:rPr lang="fr-FR" dirty="0" err="1" smtClean="0"/>
              <a:t>Firebase</a:t>
            </a:r>
            <a:r>
              <a:rPr lang="fr-FR" dirty="0" smtClean="0"/>
              <a:t>, permet le stockage et la synchronisation des données en temps réel. Enfin, la couche </a:t>
            </a:r>
            <a:r>
              <a:rPr lang="fr-FR" b="1" dirty="0" err="1" smtClean="0"/>
              <a:t>Frontend</a:t>
            </a:r>
            <a:r>
              <a:rPr lang="fr-FR" dirty="0" smtClean="0"/>
              <a:t>, développée avec </a:t>
            </a:r>
            <a:r>
              <a:rPr lang="fr-FR" dirty="0" err="1" smtClean="0"/>
              <a:t>Angular</a:t>
            </a:r>
            <a:r>
              <a:rPr lang="fr-FR" dirty="0" smtClean="0"/>
              <a:t>, offre une interface web pour la visualisation et la surveillance du système à distance.</a:t>
            </a:r>
          </a:p>
        </p:txBody>
      </p:sp>
    </p:spTree>
    <p:extLst>
      <p:ext uri="{BB962C8B-B14F-4D97-AF65-F5344CB8AC3E}">
        <p14:creationId xmlns:p14="http://schemas.microsoft.com/office/powerpoint/2010/main" val="33771599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Matériels et les couches utilisés </a:t>
            </a:r>
            <a:endParaRPr lang="fr-FR" b="1" dirty="0"/>
          </a:p>
        </p:txBody>
      </p:sp>
      <p:sp>
        <p:nvSpPr>
          <p:cNvPr id="3" name="Espace réservé du contenu 2"/>
          <p:cNvSpPr>
            <a:spLocks noGrp="1"/>
          </p:cNvSpPr>
          <p:nvPr>
            <p:ph idx="1"/>
          </p:nvPr>
        </p:nvSpPr>
        <p:spPr/>
        <p:txBody>
          <a:bodyPr>
            <a:normAutofit fontScale="92500" lnSpcReduction="20000"/>
          </a:bodyPr>
          <a:lstStyle/>
          <a:p>
            <a:r>
              <a:rPr lang="fr-FR" b="1" dirty="0" smtClean="0"/>
              <a:t>La couche Hardware </a:t>
            </a:r>
            <a:r>
              <a:rPr lang="fr-FR" dirty="0" smtClean="0"/>
              <a:t>est composée d’un capteur d’humidité du sol chargé de mesurer le taux d’humidité. Les données collectées sont traitées par </a:t>
            </a:r>
            <a:r>
              <a:rPr lang="fr-FR" dirty="0" smtClean="0"/>
              <a:t>le script </a:t>
            </a:r>
            <a:r>
              <a:rPr lang="fr-FR" dirty="0" err="1" smtClean="0"/>
              <a:t>Arduino</a:t>
            </a:r>
            <a:r>
              <a:rPr lang="fr-FR" dirty="0" smtClean="0"/>
              <a:t> </a:t>
            </a:r>
            <a:r>
              <a:rPr lang="fr-FR" dirty="0" smtClean="0"/>
              <a:t>et l’ESP32, qui prennent la décision d’activer ou non l’arrosage. Un relais est utilisé pour contrôler l’allumage et l’extinction de la pompe à eau. Grâce à la connexion Wi-Fi de l’ESP32, les informations sont transmises vers le </a:t>
            </a:r>
            <a:r>
              <a:rPr lang="fr-FR" dirty="0" err="1" smtClean="0"/>
              <a:t>cloud</a:t>
            </a:r>
            <a:r>
              <a:rPr lang="fr-FR" dirty="0" smtClean="0"/>
              <a:t> pour une surveillance à distance.</a:t>
            </a:r>
          </a:p>
          <a:p>
            <a:r>
              <a:rPr lang="fr-FR" b="1" dirty="0" smtClean="0"/>
              <a:t>La couche Cloud</a:t>
            </a:r>
            <a:r>
              <a:rPr lang="fr-FR" dirty="0" smtClean="0"/>
              <a:t> assurée par </a:t>
            </a:r>
            <a:r>
              <a:rPr lang="fr-FR" dirty="0" err="1" smtClean="0"/>
              <a:t>Firebase</a:t>
            </a:r>
            <a:r>
              <a:rPr lang="fr-FR" dirty="0" smtClean="0"/>
              <a:t>, permet le stockage des données d’humidité en temps réel. Elle assure la communication entre l’ESP32 et l’application </a:t>
            </a:r>
            <a:r>
              <a:rPr lang="fr-FR" dirty="0" err="1" smtClean="0"/>
              <a:t>Angular</a:t>
            </a:r>
            <a:r>
              <a:rPr lang="fr-FR" dirty="0" smtClean="0"/>
              <a:t>, tout en garantissant une synchronisation automatique et fiable des informations.</a:t>
            </a:r>
          </a:p>
          <a:p>
            <a:r>
              <a:rPr lang="fr-FR" dirty="0" smtClean="0"/>
              <a:t>L’interface web développée avec </a:t>
            </a:r>
            <a:r>
              <a:rPr lang="fr-FR" dirty="0" err="1" smtClean="0"/>
              <a:t>Angular</a:t>
            </a:r>
            <a:r>
              <a:rPr lang="fr-FR" dirty="0" smtClean="0"/>
              <a:t> permet d’afficher le taux d’humidité du sol ainsi que l’état de la pompe (ON/OFF). Elle offre un accès à distance au système via un navigateur web, facilitant ainsi la surveillance et le contrôle.</a:t>
            </a:r>
          </a:p>
          <a:p>
            <a:pPr marL="0" indent="0">
              <a:buNone/>
            </a:pPr>
            <a:endParaRPr lang="fr-FR" dirty="0"/>
          </a:p>
        </p:txBody>
      </p:sp>
    </p:spTree>
    <p:extLst>
      <p:ext uri="{BB962C8B-B14F-4D97-AF65-F5344CB8AC3E}">
        <p14:creationId xmlns:p14="http://schemas.microsoft.com/office/powerpoint/2010/main" val="5441685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err="1" smtClean="0"/>
              <a:t>Sc</a:t>
            </a:r>
            <a:r>
              <a:rPr lang="fr-FR" b="1" dirty="0" err="1"/>
              <a:t>h</a:t>
            </a:r>
            <a:r>
              <a:rPr lang="ar-MA" b="1" dirty="0" smtClean="0"/>
              <a:t>é</a:t>
            </a:r>
            <a:r>
              <a:rPr lang="fr-FR" b="1" dirty="0" smtClean="0"/>
              <a:t>ma de </a:t>
            </a:r>
            <a:r>
              <a:rPr lang="fr-FR" b="1" dirty="0" err="1" smtClean="0"/>
              <a:t>cablage</a:t>
            </a:r>
            <a:r>
              <a:rPr lang="fr-FR" b="1" dirty="0" smtClean="0"/>
              <a:t> et interface</a:t>
            </a:r>
            <a:endParaRPr lang="fr-FR" b="1" dirty="0"/>
          </a:p>
        </p:txBody>
      </p:sp>
      <p:pic>
        <p:nvPicPr>
          <p:cNvPr id="5" name="Espace réservé du contenu 3"/>
          <p:cNvPicPr>
            <a:picLocks noChangeAspect="1"/>
          </p:cNvPicPr>
          <p:nvPr/>
        </p:nvPicPr>
        <p:blipFill>
          <a:blip r:embed="rId2"/>
          <a:stretch>
            <a:fillRect/>
          </a:stretch>
        </p:blipFill>
        <p:spPr>
          <a:xfrm>
            <a:off x="5812109" y="2083617"/>
            <a:ext cx="6420107" cy="3506299"/>
          </a:xfrm>
          <a:prstGeom prst="rect">
            <a:avLst/>
          </a:prstGeom>
        </p:spPr>
      </p:pic>
      <p:pic>
        <p:nvPicPr>
          <p:cNvPr id="8" name="Espace réservé du contenu 7"/>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690688"/>
            <a:ext cx="5801784" cy="4351338"/>
          </a:xfrm>
        </p:spPr>
      </p:pic>
    </p:spTree>
    <p:extLst>
      <p:ext uri="{BB962C8B-B14F-4D97-AF65-F5344CB8AC3E}">
        <p14:creationId xmlns:p14="http://schemas.microsoft.com/office/powerpoint/2010/main" val="1368047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err="1"/>
              <a:t>Sch</a:t>
            </a:r>
            <a:r>
              <a:rPr lang="ar-MA" b="1" dirty="0"/>
              <a:t>é</a:t>
            </a:r>
            <a:r>
              <a:rPr lang="fr-FR" b="1" dirty="0"/>
              <a:t>ma de </a:t>
            </a:r>
            <a:r>
              <a:rPr lang="fr-FR" b="1" dirty="0" err="1"/>
              <a:t>cablage</a:t>
            </a:r>
            <a:r>
              <a:rPr lang="fr-FR" b="1" dirty="0"/>
              <a:t> et interface</a:t>
            </a:r>
          </a:p>
        </p:txBody>
      </p:sp>
      <p:pic>
        <p:nvPicPr>
          <p:cNvPr id="5" name="Espace réservé du contenu 3"/>
          <p:cNvPicPr>
            <a:picLocks noChangeAspect="1"/>
          </p:cNvPicPr>
          <p:nvPr/>
        </p:nvPicPr>
        <p:blipFill>
          <a:blip r:embed="rId2"/>
          <a:stretch>
            <a:fillRect/>
          </a:stretch>
        </p:blipFill>
        <p:spPr>
          <a:xfrm>
            <a:off x="5801784" y="1990443"/>
            <a:ext cx="6033658" cy="3608162"/>
          </a:xfrm>
          <a:prstGeom prst="rect">
            <a:avLst/>
          </a:prstGeom>
        </p:spPr>
      </p:pic>
      <p:pic>
        <p:nvPicPr>
          <p:cNvPr id="7" name="Espace réservé du contenu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690688"/>
            <a:ext cx="5801784" cy="4351338"/>
          </a:xfrm>
        </p:spPr>
      </p:pic>
    </p:spTree>
    <p:extLst>
      <p:ext uri="{BB962C8B-B14F-4D97-AF65-F5344CB8AC3E}">
        <p14:creationId xmlns:p14="http://schemas.microsoft.com/office/powerpoint/2010/main" val="39085445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Le fonctionnement du système</a:t>
            </a:r>
            <a:endParaRPr lang="fr-FR" b="1" dirty="0"/>
          </a:p>
        </p:txBody>
      </p:sp>
      <p:sp>
        <p:nvSpPr>
          <p:cNvPr id="3" name="Espace réservé du contenu 2"/>
          <p:cNvSpPr>
            <a:spLocks noGrp="1"/>
          </p:cNvSpPr>
          <p:nvPr>
            <p:ph idx="1"/>
          </p:nvPr>
        </p:nvSpPr>
        <p:spPr/>
        <p:txBody>
          <a:bodyPr/>
          <a:lstStyle/>
          <a:p>
            <a:r>
              <a:rPr lang="fr-FR" dirty="0" smtClean="0"/>
              <a:t>Le fonctionnement du système commence par la lecture continue de l’humidité du sol à l’aide du capteur. La valeur mesurée est ensuite comparée à un seuil prédéfini afin de déterminer l’état du sol. Si le sol est sec, la pompe est automatiquement activée pour lancer l’arrosage. En parallèle, les données d’humidité et l’état de la pompe sont envoyés vers </a:t>
            </a:r>
            <a:r>
              <a:rPr lang="fr-FR" dirty="0" err="1" smtClean="0"/>
              <a:t>Firebase</a:t>
            </a:r>
            <a:r>
              <a:rPr lang="fr-FR" dirty="0" smtClean="0"/>
              <a:t> pour un suivi en temps réel.</a:t>
            </a:r>
            <a:endParaRPr lang="fr-FR" dirty="0"/>
          </a:p>
        </p:txBody>
      </p:sp>
    </p:spTree>
    <p:extLst>
      <p:ext uri="{BB962C8B-B14F-4D97-AF65-F5344CB8AC3E}">
        <p14:creationId xmlns:p14="http://schemas.microsoft.com/office/powerpoint/2010/main" val="21049346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Difficultés &amp; Conclusion </a:t>
            </a:r>
            <a:r>
              <a:rPr lang="fr-FR" b="1" dirty="0" smtClean="0"/>
              <a:t>&amp; Perspectives</a:t>
            </a:r>
            <a:endParaRPr lang="fr-FR" b="1" dirty="0"/>
          </a:p>
        </p:txBody>
      </p:sp>
      <p:sp>
        <p:nvSpPr>
          <p:cNvPr id="3" name="Espace réservé du contenu 2"/>
          <p:cNvSpPr>
            <a:spLocks noGrp="1"/>
          </p:cNvSpPr>
          <p:nvPr>
            <p:ph idx="1"/>
          </p:nvPr>
        </p:nvSpPr>
        <p:spPr/>
        <p:txBody>
          <a:bodyPr/>
          <a:lstStyle/>
          <a:p>
            <a:r>
              <a:rPr lang="fr-FR" dirty="0"/>
              <a:t>Les difficultés rencontrées : la partie front-end, le </a:t>
            </a:r>
            <a:r>
              <a:rPr lang="fr-FR" dirty="0" err="1"/>
              <a:t>versionnement</a:t>
            </a:r>
            <a:r>
              <a:rPr lang="fr-FR" dirty="0"/>
              <a:t> des packages, les conflits rencontrés et la lecture des données en temps réel à partir de la </a:t>
            </a:r>
            <a:r>
              <a:rPr lang="fr-FR" dirty="0" err="1"/>
              <a:t>Realtime</a:t>
            </a:r>
            <a:r>
              <a:rPr lang="fr-FR" dirty="0"/>
              <a:t> </a:t>
            </a:r>
            <a:r>
              <a:rPr lang="fr-FR" dirty="0" err="1"/>
              <a:t>Database</a:t>
            </a:r>
            <a:r>
              <a:rPr lang="fr-FR" dirty="0" smtClean="0"/>
              <a:t>.</a:t>
            </a:r>
          </a:p>
          <a:p>
            <a:endParaRPr lang="fr-FR" dirty="0" smtClean="0"/>
          </a:p>
          <a:p>
            <a:r>
              <a:rPr lang="fr-FR" dirty="0" smtClean="0"/>
              <a:t>Ce </a:t>
            </a:r>
            <a:r>
              <a:rPr lang="fr-FR" dirty="0" smtClean="0"/>
              <a:t>projet présente un système d’arrosage intelligent et fonctionnel intégrant les technologies </a:t>
            </a:r>
            <a:r>
              <a:rPr lang="fr-FR" dirty="0" err="1" smtClean="0"/>
              <a:t>IoT</a:t>
            </a:r>
            <a:r>
              <a:rPr lang="fr-FR" dirty="0" smtClean="0"/>
              <a:t>, Cloud et Web. Parmi les améliorations futures possibles figurent le développement d’une application mobile, l’ajout d’un bouton de commande manuelle et l’utilisation de l’énergie solaire pour une meilleure autonomie.</a:t>
            </a:r>
            <a:endParaRPr lang="fr-FR" dirty="0"/>
          </a:p>
        </p:txBody>
      </p:sp>
    </p:spTree>
    <p:extLst>
      <p:ext uri="{BB962C8B-B14F-4D97-AF65-F5344CB8AC3E}">
        <p14:creationId xmlns:p14="http://schemas.microsoft.com/office/powerpoint/2010/main" val="221983708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625</Words>
  <Application>Microsoft Office PowerPoint</Application>
  <PresentationFormat>Grand écran</PresentationFormat>
  <Paragraphs>27</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vt:i4>
      </vt:variant>
    </vt:vector>
  </HeadingPairs>
  <TitlesOfParts>
    <vt:vector size="14" baseType="lpstr">
      <vt:lpstr>Arial</vt:lpstr>
      <vt:lpstr>Calibri</vt:lpstr>
      <vt:lpstr>Calibri Light</vt:lpstr>
      <vt:lpstr>Times New Roman</vt:lpstr>
      <vt:lpstr>Thème Office</vt:lpstr>
      <vt:lpstr>Présentation PowerPoint</vt:lpstr>
      <vt:lpstr>Contexte &amp; Problématique</vt:lpstr>
      <vt:lpstr>Objectifs du projet</vt:lpstr>
      <vt:lpstr>Architecture générale</vt:lpstr>
      <vt:lpstr>Matériels et les couches utilisés </vt:lpstr>
      <vt:lpstr>Schéma de cablage et interface</vt:lpstr>
      <vt:lpstr>Schéma de cablage et interface</vt:lpstr>
      <vt:lpstr>Le fonctionnement du système</vt:lpstr>
      <vt:lpstr>Difficultés &amp; Conclusion &amp; Perspectives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Compte Microsoft</dc:creator>
  <cp:lastModifiedBy>Compte Microsoft</cp:lastModifiedBy>
  <cp:revision>10</cp:revision>
  <dcterms:created xsi:type="dcterms:W3CDTF">2026-01-18T12:44:35Z</dcterms:created>
  <dcterms:modified xsi:type="dcterms:W3CDTF">2026-01-18T15:44:05Z</dcterms:modified>
</cp:coreProperties>
</file>